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79" r:id="rId7"/>
    <p:sldId id="285" r:id="rId8"/>
    <p:sldId id="286" r:id="rId9"/>
    <p:sldId id="278" r:id="rId10"/>
    <p:sldId id="271" r:id="rId11"/>
    <p:sldId id="287" r:id="rId12"/>
    <p:sldId id="280" r:id="rId13"/>
    <p:sldId id="282" r:id="rId14"/>
    <p:sldId id="283" r:id="rId15"/>
    <p:sldId id="288" r:id="rId16"/>
    <p:sldId id="268" r:id="rId17"/>
    <p:sldId id="284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0EF05-CB55-48BE-92E2-86588F2E2D02}" v="19" dt="2026-03-13T23:37:45.2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66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26D5-A16B-FC95-EE98-884618D2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75A42-9266-0A6C-CC68-D47EC157B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D2ED8-F23A-A8E6-434A-737677BD0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1BB10-9426-49A0-5FAC-E0474FDFE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6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A583-0DEE-39D2-B097-1A4982B0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11A8D-3F0A-7D08-D963-F3E2522BE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936FA-87E5-1958-E00D-6FA1FF9D1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E322B-C103-88E7-E27A-641431537E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645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AC62E-C23E-5CD5-5B09-264A518D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B7A47-EDB4-61E7-1BF1-4A883C8A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1CA72-BF99-8E62-6F51-19C964CEB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5225C-E14C-19EB-1950-F0C8AD0C4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57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144944"/>
            <a:ext cx="4468831" cy="6932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66800"/>
            <a:ext cx="7086600" cy="10531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Participation Analysis</a:t>
            </a:r>
            <a:b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69647" y="1943337"/>
            <a:ext cx="8719106" cy="26327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</a:p>
          <a:p>
            <a:endParaRPr lang="en-US" sz="2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200" b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lvl="1"/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5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Gagana Sindhu(24B11DS141)</a:t>
            </a:r>
          </a:p>
          <a:p>
            <a:pPr lvl="1"/>
            <a:r>
              <a:rPr lang="en-US" sz="205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M. Venkata Deepthi(24B11DS134)</a:t>
            </a:r>
          </a:p>
          <a:p>
            <a:pPr lvl="1"/>
            <a:r>
              <a:rPr lang="en-US" sz="205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M. Madhumitha(24B11DS024)</a:t>
            </a:r>
          </a:p>
          <a:p>
            <a:pPr lvl="1"/>
            <a:r>
              <a:rPr lang="en-US" sz="205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D. Sharmila(24B11DS053)</a:t>
            </a:r>
          </a:p>
          <a:p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041C8A-6B43-1DDA-445F-FC17CFE851D3}"/>
              </a:ext>
            </a:extLst>
          </p:cNvPr>
          <p:cNvSpPr txBox="1"/>
          <p:nvPr/>
        </p:nvSpPr>
        <p:spPr>
          <a:xfrm>
            <a:off x="2185184" y="4551948"/>
            <a:ext cx="548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Srinivas</a:t>
            </a:r>
          </a:p>
          <a:p>
            <a:pPr algn="ctr"/>
            <a:endParaRPr lang="en-US" sz="2000" dirty="0"/>
          </a:p>
          <a:p>
            <a:pPr algn="ctr"/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497892"/>
            <a:ext cx="3770980" cy="35876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1. Introduction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2. Problem Statement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3. Abstract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4. Technologies Used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5. Modules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6. Database Design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IN" sz="2200" spc="5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7.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0800" y="170783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37326" y="406527"/>
            <a:ext cx="285369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837452" y="1313504"/>
            <a:ext cx="8610600" cy="5525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 generate large amounts of participation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 includes information about attendees and their activities.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analysis of such data is difficult and time-consuming.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helps extract useful information from large datasets.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participation datasets are analysed to understand user behaviour.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insights gained help improve event organization and planning.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743200" y="138155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1914" y="281960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505200" y="344896"/>
            <a:ext cx="547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819665" y="1245900"/>
            <a:ext cx="8419069" cy="534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participation data is gathered from various sources like registration records, attendance details, and feedback surveys, but it is not effectively analyzed.</a:t>
            </a: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 of the existing system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redundancy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accuracy</a:t>
            </a:r>
            <a:endParaRPr lang="en-IN" sz="2400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decision-making</a:t>
            </a:r>
            <a:endParaRPr lang="en-IN" sz="2400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prediction</a:t>
            </a:r>
            <a:endParaRPr lang="en-IN" sz="2400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 updates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of data loss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proposed system helps in effective decision-making and predicts upcoming participant trends by analyzing event participation data using data mining techniques.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872251" y="1676400"/>
            <a:ext cx="8305800" cy="4417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project are: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+mj-lt"/>
              </a:rPr>
              <a:t>To collect event participation data within our college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+mj-lt"/>
              </a:rPr>
              <a:t>Applying preprocessing techniques such as data cleaning, normalization, and transformation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+mj-lt"/>
              </a:rPr>
              <a:t>To analyse participation data using clustering and classification techniques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+mj-lt"/>
              </a:rPr>
              <a:t>To identify patterns and trends in participant behaviour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+mj-lt"/>
              </a:rPr>
              <a:t>To predict upcoming event participation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+mj-lt"/>
              </a:rPr>
              <a:t>To support effective decision-making for event planning and improvement</a:t>
            </a:r>
            <a:endParaRPr lang="en-IN" sz="2400" dirty="0">
              <a:solidFill>
                <a:srgbClr val="7030A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9A84892F-1C22-0F12-D745-3C21B75762B2}"/>
              </a:ext>
            </a:extLst>
          </p:cNvPr>
          <p:cNvGrpSpPr/>
          <p:nvPr/>
        </p:nvGrpSpPr>
        <p:grpSpPr>
          <a:xfrm>
            <a:off x="2477248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B6992B8B-2714-49E7-57C6-FCC8B558C8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DC9F0BFE-49F5-7271-14F3-AC402D64E0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6F3FD8B5-D203-19B3-8233-0280AE3F797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89F0611-0A96-0623-8365-F5380A7277E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FAF8246-8310-8E4C-F29D-AC353F7548C9}"/>
              </a:ext>
            </a:extLst>
          </p:cNvPr>
          <p:cNvSpPr txBox="1"/>
          <p:nvPr/>
        </p:nvSpPr>
        <p:spPr>
          <a:xfrm>
            <a:off x="3429000" y="273017"/>
            <a:ext cx="395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84FC3-0AAC-38D6-E8C4-154F11094B1C}"/>
              </a:ext>
            </a:extLst>
          </p:cNvPr>
          <p:cNvSpPr txBox="1"/>
          <p:nvPr/>
        </p:nvSpPr>
        <p:spPr>
          <a:xfrm>
            <a:off x="381000" y="1355421"/>
            <a:ext cx="9296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  <a:latin typeface="+mj-lt"/>
              </a:rPr>
              <a:t>1. Preliminary Dataset Collection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A sample dataset is collected from college students.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It contains details like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age, gender, department, year of study, event type, participation fee, interest level, attendance percentage, and previous participation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Some attributes contain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missing values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r>
              <a:rPr lang="en-US" sz="2400" b="1" dirty="0">
                <a:solidFill>
                  <a:srgbClr val="C00000"/>
                </a:solidFill>
                <a:latin typeface="+mj-lt"/>
              </a:rPr>
              <a:t>2. Data Preprocessing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4"/>
                </a:solidFill>
                <a:latin typeface="+mj-lt"/>
              </a:rPr>
              <a:t>Data cleaning is performed to handle 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missing and inconsistent values</a:t>
            </a:r>
            <a:r>
              <a:rPr lang="en-US" sz="2400" dirty="0">
                <a:solidFill>
                  <a:schemeClr val="accent4"/>
                </a:solidFill>
                <a:latin typeface="+mj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4"/>
                </a:solidFill>
                <a:latin typeface="+mj-lt"/>
              </a:rPr>
              <a:t>Missing numerical values are replaced using the 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mean (average) method</a:t>
            </a:r>
            <a:r>
              <a:rPr lang="en-US" sz="2400" dirty="0">
                <a:solidFill>
                  <a:schemeClr val="accent4"/>
                </a:solidFill>
                <a:latin typeface="+mj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4"/>
                </a:solidFill>
                <a:latin typeface="+mj-lt"/>
              </a:rPr>
              <a:t>Normalization</a:t>
            </a:r>
            <a:r>
              <a:rPr lang="en-US" sz="2400" dirty="0">
                <a:solidFill>
                  <a:schemeClr val="accent4"/>
                </a:solidFill>
                <a:latin typeface="+mj-lt"/>
              </a:rPr>
              <a:t> is applied to scale values into a common range.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4"/>
                </a:solidFill>
                <a:latin typeface="+mj-lt"/>
              </a:rPr>
              <a:t>This step improves 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data quality and analysis accuracy</a:t>
            </a:r>
            <a:r>
              <a:rPr lang="en-US" sz="2400" dirty="0">
                <a:solidFill>
                  <a:schemeClr val="accent4"/>
                </a:solidFill>
              </a:rPr>
              <a:t>.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5CB0B-74DA-2198-C124-D8276261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62202EE-C4A6-7C23-E393-0A3F06BC713B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F8E700E-EDEE-7A43-58C8-DAB21F34F4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D2976A5-83BB-DD78-9976-304ABF0E1492}"/>
              </a:ext>
            </a:extLst>
          </p:cNvPr>
          <p:cNvGrpSpPr/>
          <p:nvPr/>
        </p:nvGrpSpPr>
        <p:grpSpPr>
          <a:xfrm>
            <a:off x="2477248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9E6181D-84AA-EB97-7F64-7CDC66475C6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D2DBC8B-373E-1731-BBB1-BE778CC4BE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BD502AD7-5480-477A-D151-5C98F9B214A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AA9054BB-D2F7-5CC3-A428-2C2B8F0B78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73EC6D6-049D-A6F3-B10B-0730AB8A5879}"/>
              </a:ext>
            </a:extLst>
          </p:cNvPr>
          <p:cNvSpPr txBox="1"/>
          <p:nvPr/>
        </p:nvSpPr>
        <p:spPr>
          <a:xfrm>
            <a:off x="3429000" y="273017"/>
            <a:ext cx="395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CCD13-E746-FBB8-56C2-469631475E0D}"/>
              </a:ext>
            </a:extLst>
          </p:cNvPr>
          <p:cNvSpPr txBox="1"/>
          <p:nvPr/>
        </p:nvSpPr>
        <p:spPr>
          <a:xfrm>
            <a:off x="759619" y="1003968"/>
            <a:ext cx="9296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3. Data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Data mining techniques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classification and clustering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 are applied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>
                <a:solidFill>
                  <a:srgbClr val="7030A0"/>
                </a:solidFill>
                <a:latin typeface="+mj-lt"/>
              </a:rPr>
              <a:t>Classification (J48 Algorithm)</a:t>
            </a:r>
            <a:endParaRPr lang="en-US" sz="2400" dirty="0">
              <a:solidFill>
                <a:srgbClr val="7030A0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Used to predict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student participation status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10-fold cross validation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 is used for evaluation.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Model achieved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94% accuracy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Important attributes: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Attendance Percentage and Previous Participation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.</a:t>
            </a:r>
          </a:p>
          <a:p>
            <a:r>
              <a:rPr lang="en-US" sz="2400" b="1" dirty="0">
                <a:solidFill>
                  <a:srgbClr val="00B0F0"/>
                </a:solidFill>
                <a:latin typeface="+mj-lt"/>
              </a:rPr>
              <a:t>Clustering (Simple K-Means Algorithm)</a:t>
            </a:r>
            <a:endParaRPr lang="en-US" sz="2400" dirty="0">
              <a:solidFill>
                <a:srgbClr val="00B0F0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+mj-lt"/>
              </a:rPr>
              <a:t>Groups students based on participation behavior.</a:t>
            </a:r>
          </a:p>
          <a:p>
            <a:r>
              <a:rPr lang="en-US" sz="2400" dirty="0">
                <a:solidFill>
                  <a:srgbClr val="7030A0"/>
                </a:solidFill>
                <a:latin typeface="+mj-lt"/>
              </a:rPr>
              <a:t>Three clusters are formed: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92D050"/>
                </a:solidFill>
                <a:latin typeface="+mj-lt"/>
              </a:rPr>
              <a:t>Cluster 0: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+mj-lt"/>
              </a:rPr>
              <a:t>Highly active participants – 25 students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92D050"/>
                </a:solidFill>
                <a:latin typeface="+mj-lt"/>
              </a:rPr>
              <a:t>Cluster 1: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Occasional participants – 25 students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92D050"/>
                </a:solidFill>
                <a:latin typeface="+mj-lt"/>
              </a:rPr>
              <a:t>Cluster 2: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Less interested students – 50 students</a:t>
            </a:r>
          </a:p>
        </p:txBody>
      </p:sp>
    </p:spTree>
    <p:extLst>
      <p:ext uri="{BB962C8B-B14F-4D97-AF65-F5344CB8AC3E}">
        <p14:creationId xmlns:p14="http://schemas.microsoft.com/office/powerpoint/2010/main" val="89981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71BB-3A64-3607-EBD6-ACC47696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A522554-862E-B755-5DE2-B0424768243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150309C3-794E-7D70-B3A3-2E49032801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FACB466E-9824-B41E-CB2D-4C8FE5491129}"/>
              </a:ext>
            </a:extLst>
          </p:cNvPr>
          <p:cNvGrpSpPr/>
          <p:nvPr/>
        </p:nvGrpSpPr>
        <p:grpSpPr>
          <a:xfrm>
            <a:off x="2477248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75E791DF-CEB0-97AC-279A-A72E053CE4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3CBACB85-DC3F-2F53-B6D0-89FEE33D2C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1E66960-90D1-84B0-E8A5-A5B827B890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9F60D3EF-EF00-77D2-9785-E7A04702561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8AC1FB-0BEC-F754-BB2B-9B07BAC20D8F}"/>
              </a:ext>
            </a:extLst>
          </p:cNvPr>
          <p:cNvSpPr txBox="1"/>
          <p:nvPr/>
        </p:nvSpPr>
        <p:spPr>
          <a:xfrm>
            <a:off x="3429000" y="273017"/>
            <a:ext cx="395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8439D-F8F8-BA80-E4EA-0D7A899C76C7}"/>
              </a:ext>
            </a:extLst>
          </p:cNvPr>
          <p:cNvSpPr txBox="1"/>
          <p:nvPr/>
        </p:nvSpPr>
        <p:spPr>
          <a:xfrm>
            <a:off x="609600" y="1499191"/>
            <a:ext cx="9296400" cy="400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92D050"/>
                </a:solidFill>
                <a:latin typeface="+mj-lt"/>
              </a:rPr>
              <a:t>4. Data Visualization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Data is represented in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graphical form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for better understanding.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Graph shows relationship between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Attendance Percentage (X-axis)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and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Interest Level (Y-axis)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Helps identify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participation patterns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</a:p>
          <a:p>
            <a:r>
              <a:rPr lang="en-IN" sz="2400" b="1" dirty="0">
                <a:solidFill>
                  <a:srgbClr val="FFC000"/>
                </a:solidFill>
                <a:latin typeface="+mj-lt"/>
              </a:rPr>
              <a:t>Observation:</a:t>
            </a:r>
            <a:endParaRPr lang="en-IN" sz="2400" dirty="0">
              <a:solidFill>
                <a:srgbClr val="FFC000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70C0"/>
                </a:solidFill>
                <a:latin typeface="+mj-lt"/>
              </a:rPr>
              <a:t>Higher attendance → Higher interest</a:t>
            </a:r>
            <a:endParaRPr lang="en-IN" sz="24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70C0"/>
                </a:solidFill>
                <a:latin typeface="+mj-lt"/>
              </a:rPr>
              <a:t>Lower attendance → Lower interest</a:t>
            </a:r>
            <a:endParaRPr lang="en-IN" sz="2400" dirty="0">
              <a:solidFill>
                <a:srgbClr val="0070C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9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47736" y="227021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74437" y="407706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C2B32E-412C-19AE-15BA-3748FAE41F9B}"/>
              </a:ext>
            </a:extLst>
          </p:cNvPr>
          <p:cNvSpPr txBox="1"/>
          <p:nvPr/>
        </p:nvSpPr>
        <p:spPr>
          <a:xfrm>
            <a:off x="482312" y="885087"/>
            <a:ext cx="433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Data</a:t>
            </a:r>
            <a:r>
              <a:rPr lang="en-IN" dirty="0">
                <a:solidFill>
                  <a:schemeClr val="accent4"/>
                </a:solidFill>
              </a:rPr>
              <a:t> </a:t>
            </a:r>
            <a:r>
              <a:rPr lang="en-IN" b="1" dirty="0">
                <a:solidFill>
                  <a:schemeClr val="accent4"/>
                </a:solidFill>
              </a:rPr>
              <a:t>Collection</a:t>
            </a:r>
            <a:r>
              <a:rPr lang="en-IN" dirty="0">
                <a:solidFill>
                  <a:schemeClr val="accent4"/>
                </a:solidFill>
              </a:rPr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963890-BDE7-A82D-A6C3-25F7C5959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2" y="1314217"/>
            <a:ext cx="9019466" cy="4510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17DE94AD-F708-013B-B670-537EC15F8B1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0750" y="5912267"/>
            <a:ext cx="95249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 sample dataset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student event participation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was collected from the college.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The dataset contains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100 student records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with information related to their participation in events.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Each row represents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one student’s details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FFC000"/>
                </a:solidFill>
                <a:latin typeface="Arial" panose="020B0604020202020204" pitchFamily="34" charset="0"/>
              </a:rPr>
              <a:t>Attributes</a:t>
            </a:r>
            <a:r>
              <a:rPr lang="en-US" altLang="en-US" sz="1600" dirty="0">
                <a:solidFill>
                  <a:srgbClr val="FFC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Participant_ID,Age,Gender,Department,Year,Event_Type,Participation_Fee,Interest_Level,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Attendence_Percentage,Previous_Paticipation,Paticipation</a:t>
            </a:r>
            <a:r>
              <a:rPr lang="en-US" alt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_Status,Distance_From_Home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290750" y="880063"/>
            <a:ext cx="8494541" cy="101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Method:</a:t>
            </a: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18238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52742" y="384910"/>
            <a:ext cx="216789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A8491-8D52-1D7B-828F-7002A95EAA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72342"/>
            <a:ext cx="9296400" cy="341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A8AA65-B586-68AE-CDAA-007905B897DE}"/>
              </a:ext>
            </a:extLst>
          </p:cNvPr>
          <p:cNvSpPr txBox="1"/>
          <p:nvPr/>
        </p:nvSpPr>
        <p:spPr>
          <a:xfrm>
            <a:off x="290750" y="5638800"/>
            <a:ext cx="93866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+mj-lt"/>
              </a:rPr>
              <a:t>Missing numerical values in the dataset were replaced using the </a:t>
            </a:r>
            <a:r>
              <a:rPr lang="en-US" b="1" dirty="0">
                <a:solidFill>
                  <a:srgbClr val="002060"/>
                </a:solidFill>
                <a:latin typeface="+mj-lt"/>
              </a:rPr>
              <a:t>mean (average) values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 of the respective attributes.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+mj-lt"/>
              </a:rPr>
              <a:t>If some values in </a:t>
            </a:r>
            <a:r>
              <a:rPr lang="en-US" b="1" dirty="0">
                <a:solidFill>
                  <a:srgbClr val="002060"/>
                </a:solidFill>
                <a:latin typeface="+mj-lt"/>
              </a:rPr>
              <a:t>Participation Fee or Attendance Percentage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 are missing, they are replaced with the </a:t>
            </a:r>
            <a:r>
              <a:rPr lang="en-US" b="1" dirty="0">
                <a:solidFill>
                  <a:srgbClr val="002060"/>
                </a:solidFill>
                <a:latin typeface="+mj-lt"/>
              </a:rPr>
              <a:t>average value of that attribute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5578-1B27-CF93-C1B5-4B3E4084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332752" y="2540620"/>
            <a:ext cx="2528570" cy="2650703"/>
          </a:xfrm>
        </p:spPr>
        <p:txBody>
          <a:bodyPr/>
          <a:lstStyle/>
          <a:p>
            <a:r>
              <a:rPr lang="en-US" dirty="0"/>
              <a:t>	</a:t>
            </a:r>
            <a:endParaRPr lang="en-IN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944C77F-F4F5-B349-D381-B97FA70A893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3CBA4DB-0574-7765-2F79-8347040040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24E2CBE-217C-6B59-3F47-E7FCB091159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07BB52A-584D-F940-2BB0-882ECBB4DA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B981077-3C05-1A6E-E6E8-F34E535966B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82701E-4774-9F78-D26D-B8725B26330A}"/>
              </a:ext>
            </a:extLst>
          </p:cNvPr>
          <p:cNvSpPr txBox="1"/>
          <p:nvPr/>
        </p:nvSpPr>
        <p:spPr>
          <a:xfrm>
            <a:off x="4191000" y="390859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5456F-41DD-0A59-A446-293CA6B5920F}"/>
              </a:ext>
            </a:extLst>
          </p:cNvPr>
          <p:cNvSpPr txBox="1"/>
          <p:nvPr/>
        </p:nvSpPr>
        <p:spPr>
          <a:xfrm>
            <a:off x="316025" y="607459"/>
            <a:ext cx="50292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  <a:latin typeface="+mj-lt"/>
              </a:rPr>
              <a:t>Event Type Distribution</a:t>
            </a:r>
            <a:r>
              <a:rPr lang="en-IN" dirty="0"/>
              <a:t>: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0FC949-A593-ACEC-08B8-EC9B5A24F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38" y="1194177"/>
            <a:ext cx="9244324" cy="4887937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A783329C-B569-B7AE-9E3F-A1B0CDB8137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" y="6257270"/>
            <a:ext cx="10210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There 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three event 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Technical, Cultural, and Sports.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Technical events have the highest participation (38 participants)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Cultural and Sports events each have 21 participants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output indicates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Technical events are more popular among participants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compared to the other categories.</a:t>
            </a:r>
          </a:p>
        </p:txBody>
      </p:sp>
    </p:spTree>
    <p:extLst>
      <p:ext uri="{BB962C8B-B14F-4D97-AF65-F5344CB8AC3E}">
        <p14:creationId xmlns:p14="http://schemas.microsoft.com/office/powerpoint/2010/main" val="225484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B6B9-5FD6-E61E-29A5-F14F78F0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700611E-3C64-A9BB-C158-C1635D59C42D}"/>
              </a:ext>
            </a:extLst>
          </p:cNvPr>
          <p:cNvGrpSpPr/>
          <p:nvPr/>
        </p:nvGrpSpPr>
        <p:grpSpPr>
          <a:xfrm>
            <a:off x="2438400" y="172149"/>
            <a:ext cx="5104652" cy="1287496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17670F5-BC4F-C880-FF6B-586C7E02C5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53D0EC1-AFF6-F3FC-597B-65279E9E32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1C594E3-B92D-E801-8842-0A147E5E695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63FDD46-7298-916D-067B-6F2EFC5AA1C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FAA4BF76-A487-B461-F6F1-28D75876C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199" y="457821"/>
            <a:ext cx="184594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78BF0F10-87DA-05D7-5D45-FF1A624456D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547DAE-5A3B-C988-E278-A056B7DCF1AB}"/>
              </a:ext>
            </a:extLst>
          </p:cNvPr>
          <p:cNvSpPr txBox="1"/>
          <p:nvPr/>
        </p:nvSpPr>
        <p:spPr>
          <a:xfrm>
            <a:off x="381000" y="881795"/>
            <a:ext cx="442677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</a:rPr>
              <a:t>Normalization:</a:t>
            </a:r>
            <a:endParaRPr lang="en-IN" b="1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734716-4C78-DC78-DC44-759BCACDF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58120"/>
            <a:ext cx="9446126" cy="39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A95A6B9-F39D-AB2B-2E24-E7ACF41EB9D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5375" y="5531876"/>
            <a:ext cx="97676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The numerical attributes in the dataset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normalized to a common scale between 0 and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After normalization, values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Participation Fee and Attendance Percentage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 are converted into decimal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This reduces variation between attributes and keeps all values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uniform range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The normalized dataset is now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ready for accurate clustering and classification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3146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6DF3-EE63-2DBE-39F4-BE3876B1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FB07E6-2A50-388B-1FE0-2C761AC4CF9D}"/>
              </a:ext>
            </a:extLst>
          </p:cNvPr>
          <p:cNvSpPr txBox="1"/>
          <p:nvPr/>
        </p:nvSpPr>
        <p:spPr>
          <a:xfrm>
            <a:off x="433551" y="631587"/>
            <a:ext cx="8494541" cy="1335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lang="en-IN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classification is used to 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predict student participation status (Yes/No)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  <a:endParaRPr lang="en-IN" sz="16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48AFA346-A361-F653-DEB0-83A82E060D56}"/>
              </a:ext>
            </a:extLst>
          </p:cNvPr>
          <p:cNvGrpSpPr/>
          <p:nvPr/>
        </p:nvGrpSpPr>
        <p:grpSpPr>
          <a:xfrm>
            <a:off x="2183697" y="141207"/>
            <a:ext cx="5027704" cy="1226298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256EF83-3643-F163-7592-E57D9BFAD72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2B023-AF1F-68C6-C720-D5252832DBE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0DC6B75-67CA-4322-2E14-C28747756CC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1C73B5C-0006-B520-F56C-2F64A50C59B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EC2C7B3-02A0-6999-286F-2FA3A1A40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FB89C04-F9E7-B464-C2B1-345FFD4EFE9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E05550BF-3863-6DC1-6AB1-C7603FA10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36653"/>
            <a:ext cx="94185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92D050"/>
                </a:solidFill>
              </a:rPr>
              <a:t>Algorithm Used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J48 Decision Tree algorithm was used for classification.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B0F0"/>
                </a:solidFill>
              </a:rPr>
              <a:t>Correctly Classified Instances: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95 instances were correctly predicted (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95% accuracy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Incorrectly Classified Instances: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rgbClr val="FFC000"/>
                </a:solidFill>
              </a:rPr>
              <a:t>5 instances were incorrectly predicted (</a:t>
            </a:r>
            <a:r>
              <a:rPr lang="en-US" sz="1600" b="1" dirty="0">
                <a:solidFill>
                  <a:srgbClr val="FFC000"/>
                </a:solidFill>
              </a:rPr>
              <a:t>5% error</a:t>
            </a:r>
            <a:r>
              <a:rPr lang="en-US" sz="1600" dirty="0">
                <a:solidFill>
                  <a:srgbClr val="FFC000"/>
                </a:solidFill>
              </a:rPr>
              <a:t>).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Confusion Matrix Result:</a:t>
            </a:r>
            <a:br>
              <a:rPr lang="en-US" sz="1600" dirty="0"/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38 instances are correctly predicted as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Technical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33 instances are correctly predicted as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Cultural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24 instances are correctly predicted as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Sports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2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Cultural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 instances are incorrectly predicted as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Sports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3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Sports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 instances are incorrectly predicted as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Cultural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IN" sz="16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17DB3D-BBC9-77E3-DDB8-B1A5103777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51" y="1588598"/>
            <a:ext cx="9191298" cy="34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61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DEB7-CC83-2A58-AA41-104F9281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074E9E38-3D71-81C3-36A4-B8DC7D8B38AA}"/>
              </a:ext>
            </a:extLst>
          </p:cNvPr>
          <p:cNvGrpSpPr/>
          <p:nvPr/>
        </p:nvGrpSpPr>
        <p:grpSpPr>
          <a:xfrm>
            <a:off x="2718260" y="77200"/>
            <a:ext cx="5027704" cy="1226298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AD8C211-2506-F23A-70A2-FD8C2CD420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117551E-0AFC-B243-75AC-EF4CF7DC80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0187ACF-5375-8871-09AE-2D729AC81AB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3F04C70-86EA-3897-EA02-1FEC55D9BAC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F85BE11A-E9FA-8F31-8AB5-6D11148F0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3557" y="396785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F3250709-EC63-1058-8FC9-4C8C877C00B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C31D92-404E-B0E2-95F2-38965C768F37}"/>
              </a:ext>
            </a:extLst>
          </p:cNvPr>
          <p:cNvSpPr txBox="1"/>
          <p:nvPr/>
        </p:nvSpPr>
        <p:spPr>
          <a:xfrm>
            <a:off x="471956" y="744576"/>
            <a:ext cx="9327862" cy="140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lustering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Clustering is a data mining technique used to </a:t>
            </a:r>
            <a:r>
              <a:rPr lang="en-US" b="1" dirty="0">
                <a:solidFill>
                  <a:srgbClr val="00B0F0"/>
                </a:solidFill>
              </a:rPr>
              <a:t>group similar data objects into clusters based on their characteristics</a:t>
            </a:r>
            <a:r>
              <a:rPr lang="en-US" dirty="0">
                <a:solidFill>
                  <a:srgbClr val="00B0F0"/>
                </a:solidFill>
              </a:rPr>
              <a:t>.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5C6B14-4315-CD61-E960-A51E5BF7EE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38" y="1600451"/>
            <a:ext cx="9267898" cy="400692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26B2C6-7321-128B-4B1F-4B68C31434EC}"/>
              </a:ext>
            </a:extLst>
          </p:cNvPr>
          <p:cNvSpPr txBox="1"/>
          <p:nvPr/>
        </p:nvSpPr>
        <p:spPr>
          <a:xfrm>
            <a:off x="420133" y="5678330"/>
            <a:ext cx="92181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B050"/>
                </a:solidFill>
              </a:rPr>
              <a:t>Algorithm Used:</a:t>
            </a:r>
            <a:r>
              <a:rPr lang="en-US" sz="1600" dirty="0">
                <a:solidFill>
                  <a:srgbClr val="00B05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Simple K-Means clustering.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Total Clusters Formed: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3 clusters.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7030A0"/>
                </a:solidFill>
              </a:rPr>
              <a:t>Cluster 0: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25 students (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25%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 – Highly active participants.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7030A0"/>
                </a:solidFill>
              </a:rPr>
              <a:t>Cluster 1: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25 students (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25%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) – Occasional participants.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7030A0"/>
                </a:solidFill>
              </a:rPr>
              <a:t>Cluster 2: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50 students (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50%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) – Less interested students.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clustering groups students based on attributes like 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event type, interest level, attendance percentage, and previous participation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163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47FF969-9FDE-053E-8476-E803D96C3F0A}"/>
              </a:ext>
            </a:extLst>
          </p:cNvPr>
          <p:cNvGrpSpPr/>
          <p:nvPr/>
        </p:nvGrpSpPr>
        <p:grpSpPr>
          <a:xfrm>
            <a:off x="2743200" y="-27878"/>
            <a:ext cx="5027704" cy="1226298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F4D004-218B-6073-0E83-8A7872BEAA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3F30AFF-7A3E-4A10-4ADB-FA1BC193179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B2023B0-E1C5-C620-D239-A44DF92BE1F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4ADAAB9-1EE8-C59B-EDDB-18BD2E546B9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59B976-7E41-4BC2-5596-0A664705A4EC}"/>
              </a:ext>
            </a:extLst>
          </p:cNvPr>
          <p:cNvSpPr txBox="1"/>
          <p:nvPr/>
        </p:nvSpPr>
        <p:spPr>
          <a:xfrm>
            <a:off x="4419600" y="19454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1FAA2-4EB4-271C-A999-0D855217A239}"/>
              </a:ext>
            </a:extLst>
          </p:cNvPr>
          <p:cNvSpPr txBox="1"/>
          <p:nvPr/>
        </p:nvSpPr>
        <p:spPr>
          <a:xfrm>
            <a:off x="318868" y="610233"/>
            <a:ext cx="531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  <a:r>
              <a:rPr lang="en-IN" dirty="0">
                <a:solidFill>
                  <a:srgbClr val="FF0000"/>
                </a:solidFill>
              </a:rPr>
              <a:t> Rule Analysis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A21E3-0821-B609-E888-F43854087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68" y="979565"/>
            <a:ext cx="9374448" cy="4950880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C035ACBC-B083-41C6-7C8B-EA0E987CD97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7273" y="5956518"/>
            <a:ext cx="777090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Students who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participated in previous events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 are more likely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participate again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Students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high interest in events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 are more likely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take part in them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Technical events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 attract more student participation.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Students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both high interest and previous participation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 show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highest chance of participating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Interest level and past participation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 are the main factors influencing event participation. </a:t>
            </a:r>
          </a:p>
        </p:txBody>
      </p:sp>
    </p:spTree>
    <p:extLst>
      <p:ext uri="{BB962C8B-B14F-4D97-AF65-F5344CB8AC3E}">
        <p14:creationId xmlns:p14="http://schemas.microsoft.com/office/powerpoint/2010/main" val="702417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210501-CA4B-F753-57AC-B8577176347B}"/>
              </a:ext>
            </a:extLst>
          </p:cNvPr>
          <p:cNvSpPr txBox="1"/>
          <p:nvPr/>
        </p:nvSpPr>
        <p:spPr>
          <a:xfrm>
            <a:off x="290750" y="1143000"/>
            <a:ext cx="2795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Data Visualization</a:t>
            </a:r>
            <a:r>
              <a:rPr lang="en-IN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04E0F-52AC-092B-B251-56B7870BA3C1}"/>
              </a:ext>
            </a:extLst>
          </p:cNvPr>
          <p:cNvSpPr txBox="1"/>
          <p:nvPr/>
        </p:nvSpPr>
        <p:spPr>
          <a:xfrm>
            <a:off x="381000" y="1579958"/>
            <a:ext cx="9220200" cy="65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The scatter plot shows the relationship between </a:t>
            </a:r>
            <a:r>
              <a:rPr lang="en-US" b="1" dirty="0">
                <a:solidFill>
                  <a:schemeClr val="accent3"/>
                </a:solidFill>
              </a:rPr>
              <a:t>Attendance Percentage (X-axis)</a:t>
            </a:r>
            <a:r>
              <a:rPr lang="en-US" dirty="0">
                <a:solidFill>
                  <a:schemeClr val="accent3"/>
                </a:solidFill>
              </a:rPr>
              <a:t> and </a:t>
            </a:r>
            <a:r>
              <a:rPr lang="en-US" b="1" dirty="0">
                <a:solidFill>
                  <a:schemeClr val="accent3"/>
                </a:solidFill>
              </a:rPr>
              <a:t>Interest Level (Y-axis)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endParaRPr lang="en-IN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45815-44EC-91B1-DBF8-3A954A6B16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34647"/>
            <a:ext cx="8991600" cy="36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4DAFFD8-7BDE-449B-AFF2-5802B10FF2C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0750" y="5998429"/>
            <a:ext cx="960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Data points are colored based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Distance From Home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Participants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high interest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generally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higher attendance percentages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Participants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medium interest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show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moderate attendance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Participants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 interest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mostly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lower attendance percentages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The visualization indicates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interest level influences and Distance from home event participation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BAB4-0BF0-5B5F-4120-6997AD8A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60DF703-F52A-4398-7B8F-21FC561B85EC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358786-089C-D0CB-46DC-621C8D4129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52C1AFBD-7401-A373-AB0D-645CD61465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8CD4ABF4-41E9-ADA4-240C-1A4ABC3F4D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74FC692-72BA-53D4-552D-B58E555286D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5A81F574-4220-EAE5-4DB9-E00D36FB8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8D095928-7369-966C-4FEA-B67C71EC066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664945-0AE9-E29C-0FC5-626824FA0E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1332126"/>
            <a:ext cx="9448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The project analyzed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student participation in college events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 using a collected dataset.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Data 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 was performed by replacing missing values and applying normalization.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Classification using J48 algorithm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 predicted student participation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94%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Clustering using Simple K-Means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 grouped students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three categories: highly active, occasional, and less interested participants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The analysis helped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identify patterns in student interest and participation in events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Overall, the project shows 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data mining techniques can be used to understand and improve student engagement in events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575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2953</TotalTime>
  <Words>1220</Words>
  <Application>Microsoft Office PowerPoint</Application>
  <PresentationFormat>Custom</PresentationFormat>
  <Paragraphs>146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Palatino Linotype</vt:lpstr>
      <vt:lpstr>Times New Roman</vt:lpstr>
      <vt:lpstr>Wingdings</vt:lpstr>
      <vt:lpstr>Office Theme</vt:lpstr>
      <vt:lpstr>Event Participation Analysis 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</vt:lpstr>
      <vt:lpstr> </vt:lpstr>
      <vt:lpstr>OUTPUT</vt:lpstr>
      <vt:lpstr>OUTPUT</vt:lpstr>
      <vt:lpstr>OUTPUT</vt:lpstr>
      <vt:lpstr>PowerPoint Presentation</vt:lpstr>
      <vt:lpstr>OUTPUT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Sindhu Gagana</cp:lastModifiedBy>
  <cp:revision>64</cp:revision>
  <cp:lastPrinted>2025-10-14T18:21:49Z</cp:lastPrinted>
  <dcterms:created xsi:type="dcterms:W3CDTF">2025-10-10T08:28:06Z</dcterms:created>
  <dcterms:modified xsi:type="dcterms:W3CDTF">2026-03-13T23:45:27Z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